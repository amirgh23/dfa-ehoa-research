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941d999b394fa1" /><Relationship Type="http://schemas.openxmlformats.org/officeDocument/2006/relationships/extended-properties" Target="/docProps/app.xml" Id="Rd63a5a2b5b354076" /><Relationship Type="http://schemas.openxmlformats.org/officeDocument/2006/relationships/officeDocument" Target="/ppt/presentation.xml" Id="R4053775b49f54f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1aafacdbeb4b87"/>
  </p:sldMasterIdLst>
  <p:notesMasterIdLst>
    <p:notesMasterId xmlns:r="http://schemas.openxmlformats.org/officeDocument/2006/relationships" r:id="R52ce4803616a45ce"/>
  </p:notesMasterIdLst>
  <p:sldIdLst>
    <p:sldId xmlns:r="http://schemas.openxmlformats.org/officeDocument/2006/relationships" id="256" r:id="R270fadaf293e473a"/>
    <p:sldId xmlns:r="http://schemas.openxmlformats.org/officeDocument/2006/relationships" id="257" r:id="Rc97c4ad899b546d9"/>
    <p:sldId xmlns:r="http://schemas.openxmlformats.org/officeDocument/2006/relationships" id="258" r:id="Re7b74d3b14ef4f6e"/>
    <p:sldId xmlns:r="http://schemas.openxmlformats.org/officeDocument/2006/relationships" id="259" r:id="Ra0ea457a30824a03"/>
    <p:sldId xmlns:r="http://schemas.openxmlformats.org/officeDocument/2006/relationships" id="260" r:id="R978d88e552fc499b"/>
    <p:sldId xmlns:r="http://schemas.openxmlformats.org/officeDocument/2006/relationships" id="261" r:id="Rfc85110f997b4a9b"/>
    <p:sldId xmlns:r="http://schemas.openxmlformats.org/officeDocument/2006/relationships" id="262" r:id="R938eec959c234935"/>
    <p:sldId xmlns:r="http://schemas.openxmlformats.org/officeDocument/2006/relationships" id="263" r:id="R83594e6457b0472a"/>
    <p:sldId xmlns:r="http://schemas.openxmlformats.org/officeDocument/2006/relationships" id="264" r:id="R891b10bb0c0f4cd0"/>
    <p:sldId xmlns:r="http://schemas.openxmlformats.org/officeDocument/2006/relationships" id="265" r:id="R4ce04070722f4eba"/>
    <p:sldId xmlns:r="http://schemas.openxmlformats.org/officeDocument/2006/relationships" id="266" r:id="R9111a80bb8324d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540f20104c480d" /><Relationship Type="http://schemas.openxmlformats.org/officeDocument/2006/relationships/slideMaster" Target="/ppt/slideMasters/slideMaster1.xml" Id="R641aafacdbeb4b87" /><Relationship Type="http://schemas.openxmlformats.org/officeDocument/2006/relationships/notesMaster" Target="/ppt/notesMasters/notesMaster1.xml" Id="R52ce4803616a45ce" /><Relationship Type="http://schemas.openxmlformats.org/officeDocument/2006/relationships/presProps" Target="/ppt/presProps.xml" Id="R1716c9679a464bcf" /><Relationship Type="http://schemas.openxmlformats.org/officeDocument/2006/relationships/tableStyles" Target="/ppt/tableStyles.xml" Id="Rbace2e3ae3ac4822" /><Relationship Type="http://schemas.openxmlformats.org/officeDocument/2006/relationships/slide" Target="/ppt/slides/slide1.xml" Id="R270fadaf293e473a" /><Relationship Type="http://schemas.openxmlformats.org/officeDocument/2006/relationships/slide" Target="/ppt/slides/slide2.xml" Id="Rc97c4ad899b546d9" /><Relationship Type="http://schemas.openxmlformats.org/officeDocument/2006/relationships/slide" Target="/ppt/slides/slide3.xml" Id="Re7b74d3b14ef4f6e" /><Relationship Type="http://schemas.openxmlformats.org/officeDocument/2006/relationships/slide" Target="/ppt/slides/slide4.xml" Id="Ra0ea457a30824a03" /><Relationship Type="http://schemas.openxmlformats.org/officeDocument/2006/relationships/slide" Target="/ppt/slides/slide5.xml" Id="R978d88e552fc499b" /><Relationship Type="http://schemas.openxmlformats.org/officeDocument/2006/relationships/slide" Target="/ppt/slides/slide6.xml" Id="Rfc85110f997b4a9b" /><Relationship Type="http://schemas.openxmlformats.org/officeDocument/2006/relationships/slide" Target="/ppt/slides/slide7.xml" Id="R938eec959c234935" /><Relationship Type="http://schemas.openxmlformats.org/officeDocument/2006/relationships/slide" Target="/ppt/slides/slide8.xml" Id="R83594e6457b0472a" /><Relationship Type="http://schemas.openxmlformats.org/officeDocument/2006/relationships/slide" Target="/ppt/slides/slide9.xml" Id="R891b10bb0c0f4cd0" /><Relationship Type="http://schemas.openxmlformats.org/officeDocument/2006/relationships/slide" Target="/ppt/slides/slide10.xml" Id="R4ce04070722f4eba" /><Relationship Type="http://schemas.openxmlformats.org/officeDocument/2006/relationships/slide" Target="/ppt/slides/slide11.xml" Id="R9111a80bb8324d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680fdbee2f46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737dd8430e4161" /><Relationship Type="http://schemas.openxmlformats.org/officeDocument/2006/relationships/notesMaster" Target="/ppt/notesMasters/notesMaster1.xml" Id="R88e54794e52542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058c92280f46ac" /><Relationship Type="http://schemas.openxmlformats.org/officeDocument/2006/relationships/notesMaster" Target="/ppt/notesMasters/notesMaster1.xml" Id="R917c55aefa1645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aa53db5faf48f4" /><Relationship Type="http://schemas.openxmlformats.org/officeDocument/2006/relationships/notesMaster" Target="/ppt/notesMasters/notesMaster1.xml" Id="Rd4e057799b3b48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33ac766bc24213" /><Relationship Type="http://schemas.openxmlformats.org/officeDocument/2006/relationships/notesMaster" Target="/ppt/notesMasters/notesMaster1.xml" Id="Rdca35ed00b2e48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259527cf354c0b" /><Relationship Type="http://schemas.openxmlformats.org/officeDocument/2006/relationships/notesMaster" Target="/ppt/notesMasters/notesMaster1.xml" Id="Reae7c7de700a48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64682427ec4f50" /><Relationship Type="http://schemas.openxmlformats.org/officeDocument/2006/relationships/notesMaster" Target="/ppt/notesMasters/notesMaster1.xml" Id="R86a0d1cbf6e943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8d99889cb347d5" /><Relationship Type="http://schemas.openxmlformats.org/officeDocument/2006/relationships/notesMaster" Target="/ppt/notesMasters/notesMaster1.xml" Id="R2f6f1edaca524a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aa144ca11b4d28" /><Relationship Type="http://schemas.openxmlformats.org/officeDocument/2006/relationships/notesMaster" Target="/ppt/notesMasters/notesMaster1.xml" Id="R381ffee2d53e4b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38e55edc364ed3" /><Relationship Type="http://schemas.openxmlformats.org/officeDocument/2006/relationships/notesMaster" Target="/ppt/notesMasters/notesMaster1.xml" Id="R187a909bfb204d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8c24baa12f4f33" /><Relationship Type="http://schemas.openxmlformats.org/officeDocument/2006/relationships/notesMaster" Target="/ppt/notesMasters/notesMaster1.xml" Id="Red8d620efe8b49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4b3be32c96439e" /><Relationship Type="http://schemas.openxmlformats.org/officeDocument/2006/relationships/notesMaster" Target="/ppt/notesMasters/notesMaster1.xml" Id="R82f6ffa2311242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4b4063fd74e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87acd1ab5d4767" /><Relationship Type="http://schemas.openxmlformats.org/officeDocument/2006/relationships/slideLayout" Target="/ppt/slideLayouts/slideLayout1.xml" Id="R89cafd950b684a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cafd950b684a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2da8bb8fb4370" /><Relationship Type="http://schemas.openxmlformats.org/officeDocument/2006/relationships/notesSlide" Target="/ppt/notesSlides/notesSlide1.xml" Id="Rae1e3d0682e84f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f8afe5a734d84" /><Relationship Type="http://schemas.openxmlformats.org/officeDocument/2006/relationships/notesSlide" Target="/ppt/notesSlides/notesSlide2.xml" Id="Rcb67acdd634f42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7e4f14cfd47da" /><Relationship Type="http://schemas.openxmlformats.org/officeDocument/2006/relationships/notesSlide" Target="/ppt/notesSlides/notesSlide3.xml" Id="R6af3a7a8b0b446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e98fd15ef4138" /><Relationship Type="http://schemas.openxmlformats.org/officeDocument/2006/relationships/notesSlide" Target="/ppt/notesSlides/notesSlide4.xml" Id="R1046d9180efc46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8ea2c27ea431a" /><Relationship Type="http://schemas.openxmlformats.org/officeDocument/2006/relationships/notesSlide" Target="/ppt/notesSlides/notesSlide5.xml" Id="R0d1a5b7619874b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0a14b99814b24" /><Relationship Type="http://schemas.openxmlformats.org/officeDocument/2006/relationships/notesSlide" Target="/ppt/notesSlides/notesSlide6.xml" Id="R2d7b68adcc5a45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8054408fa4209" /><Relationship Type="http://schemas.openxmlformats.org/officeDocument/2006/relationships/notesSlide" Target="/ppt/notesSlides/notesSlide7.xml" Id="R11ad110a543d40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bf26592f3468d" /><Relationship Type="http://schemas.openxmlformats.org/officeDocument/2006/relationships/image" Target="/ppt/media/image.png" Id="R4d039c1134054ff3" /><Relationship Type="http://schemas.openxmlformats.org/officeDocument/2006/relationships/notesSlide" Target="/ppt/notesSlides/notesSlide8.xml" Id="R29821252cbdd4e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14a56092d4469" /><Relationship Type="http://schemas.openxmlformats.org/officeDocument/2006/relationships/image" Target="/ppt/media/image2.png" Id="R47d720f2f9a2463b" /><Relationship Type="http://schemas.openxmlformats.org/officeDocument/2006/relationships/image" Target="/ppt/media/image3.png" Id="Raaf88210220b4234" /><Relationship Type="http://schemas.openxmlformats.org/officeDocument/2006/relationships/notesSlide" Target="/ppt/notesSlides/notesSlide9.xml" Id="R993489834b594c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a474aa2a04cf5" /><Relationship Type="http://schemas.openxmlformats.org/officeDocument/2006/relationships/notesSlide" Target="/ppt/notesSlides/notesSlide10.xml" Id="R2cd0d6688c4242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d419543eb4a9a" /><Relationship Type="http://schemas.openxmlformats.org/officeDocument/2006/relationships/notesSlide" Target="/ppt/notesSlides/notesSlide11.xml" Id="R69d8fbb8f77447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re3vms">
            <a:extLst xmlns:a="http://schemas.openxmlformats.org/drawingml/2006/main">
              <a:ext uri="{FF2B5EF4-FFF2-40B4-BE49-F238E27FC236}">
                <a16:creationId xmlns:a16="http://schemas.microsoft.com/office/drawing/2014/main" id="{F2A42805-8BA5-4C27-B03B-DDCC7BEC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ext-22bhgn">
            <a:extLst xmlns:a="http://schemas.openxmlformats.org/drawingml/2006/main">
              <a:ext uri="{FF2B5EF4-FFF2-40B4-BE49-F238E27FC236}">
                <a16:creationId xmlns:a16="http://schemas.microsoft.com/office/drawing/2014/main" id="{8125CD26-D17A-465E-906F-6998E47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درس کلان‌داده</a:t>
            </a:r>
          </a:p>
        </p:txBody>
      </p:sp>
      <p:sp>
        <p:nvSpPr>
          <p:cNvPr id="3" name="text-bctpba">
            <a:extLst xmlns:a="http://schemas.openxmlformats.org/drawingml/2006/main">
              <a:ext uri="{FF2B5EF4-FFF2-40B4-BE49-F238E27FC236}">
                <a16:creationId xmlns:a16="http://schemas.microsoft.com/office/drawing/2014/main" id="{750B59D3-3CE3-4FBF-8CC4-F5BA3874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9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انتخاب ویژگی در داده‌های پزشکی با EHOA</a:t>
            </a:r>
          </a:p>
        </p:txBody>
      </p:sp>
      <p:sp>
        <p:nvSpPr>
          <p:cNvPr id="4" name="text-7ja9mo">
            <a:extLst xmlns:a="http://schemas.openxmlformats.org/drawingml/2006/main">
              <a:ext uri="{FF2B5EF4-FFF2-40B4-BE49-F238E27FC236}">
                <a16:creationId xmlns:a16="http://schemas.microsoft.com/office/drawing/2014/main" id="{18B84E87-C19B-4D32-81DA-20574569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پیاده‌سازی بازتولیدپذیر، ارزیابی بدون نشت اطلاعات و توضیح‌پذیری</a:t>
            </a:r>
          </a:p>
        </p:txBody>
      </p:sp>
      <p:sp>
        <p:nvSpPr>
          <p:cNvPr id="5" name="text-1oj3rk">
            <a:extLst xmlns:a="http://schemas.openxmlformats.org/drawingml/2006/main">
              <a:ext uri="{FF2B5EF4-FFF2-40B4-BE49-F238E27FC236}">
                <a16:creationId xmlns:a16="http://schemas.microsoft.com/office/drawing/2014/main" id="{3337D6F8-B441-43F1-8F4A-EF19EABE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امیررضا غفاریان</a:t>
            </a:r>
          </a:p>
        </p:txBody>
      </p:sp>
      <p:sp>
        <p:nvSpPr>
          <p:cNvPr id="6" name="text-ikjz6w">
            <a:extLst xmlns:a="http://schemas.openxmlformats.org/drawingml/2006/main">
              <a:ext uri="{FF2B5EF4-FFF2-40B4-BE49-F238E27FC236}">
                <a16:creationId xmlns:a16="http://schemas.microsoft.com/office/drawing/2014/main" id="{56E98F7B-3164-407F-99E0-092FE1B3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721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Hegazy et al. — Cluster Computing (2026)</a:t>
            </a:r>
          </a:p>
        </p:txBody>
      </p:sp>
      <p:sp>
        <p:nvSpPr>
          <p:cNvPr id="7" name="text-998wof">
            <a:extLst xmlns:a="http://schemas.openxmlformats.org/drawingml/2006/main">
              <a:ext uri="{FF2B5EF4-FFF2-40B4-BE49-F238E27FC236}">
                <a16:creationId xmlns:a16="http://schemas.microsoft.com/office/drawing/2014/main" id="{69ACFBF8-8E6A-42F3-B5FE-AA7E4C3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96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10.1007/s10586-026-05946-9</a:t>
            </a:r>
          </a:p>
        </p:txBody>
      </p:sp>
    </p:spTree>
    <p:extLst>
      <p:ext uri="{BB962C8B-B14F-4D97-AF65-F5344CB8AC3E}">
        <p14:creationId xmlns:p14="http://schemas.microsoft.com/office/powerpoint/2010/main" val="19461775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394C6E0-1CDA-4CDC-A335-268E757D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با افزایش بُعد، جست‌وجوی کامل عملاً ناممکن می‌شود</a:t>
            </a:r>
          </a:p>
        </p:txBody>
      </p:sp>
      <p:sp>
        <p:nvSpPr>
          <p:cNvPr id="2" name="shape-vvdo2j">
            <a:extLst xmlns:a="http://schemas.openxmlformats.org/drawingml/2006/main">
              <a:ext uri="{FF2B5EF4-FFF2-40B4-BE49-F238E27FC236}">
                <a16:creationId xmlns:a16="http://schemas.microsoft.com/office/drawing/2014/main" id="{0A8DABC9-E2BA-4133-8E5F-9442ACAE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09537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bcejod">
            <a:extLst xmlns:a="http://schemas.openxmlformats.org/drawingml/2006/main">
              <a:ext uri="{FF2B5EF4-FFF2-40B4-BE49-F238E27FC236}">
                <a16:creationId xmlns:a16="http://schemas.microsoft.com/office/drawing/2014/main" id="{71BE443A-DDB6-4135-BAAB-F228907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61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2ᵈ</a:t>
            </a:r>
          </a:p>
        </p:txBody>
      </p:sp>
      <p:sp>
        <p:nvSpPr>
          <p:cNvPr id="4" name="text-s1xu5d">
            <a:extLst xmlns:a="http://schemas.openxmlformats.org/drawingml/2006/main">
              <a:ext uri="{FF2B5EF4-FFF2-40B4-BE49-F238E27FC236}">
                <a16:creationId xmlns:a16="http://schemas.microsoft.com/office/drawing/2014/main" id="{A37E30C5-4F5B-4703-8676-C9BD6EE4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زیرمجموعه برای d ویژگی</a:t>
            </a:r>
          </a:p>
        </p:txBody>
      </p:sp>
      <p:sp>
        <p:nvSpPr>
          <p:cNvPr id="5" name="shape-c267ld">
            <a:extLst xmlns:a="http://schemas.openxmlformats.org/drawingml/2006/main">
              <a:ext uri="{FF2B5EF4-FFF2-40B4-BE49-F238E27FC236}">
                <a16:creationId xmlns:a16="http://schemas.microsoft.com/office/drawing/2014/main" id="{7A4C458D-CCAB-42CE-A713-24408BE5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192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6" name="text-0vhny3">
            <a:extLst xmlns:a="http://schemas.openxmlformats.org/drawingml/2006/main">
              <a:ext uri="{FF2B5EF4-FFF2-40B4-BE49-F238E27FC236}">
                <a16:creationId xmlns:a16="http://schemas.microsoft.com/office/drawing/2014/main" id="{660732F5-2530-47B8-88FA-D10C333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۵۰۰ ویژگی</a:t>
            </a:r>
          </a:p>
        </p:txBody>
      </p:sp>
      <p:sp>
        <p:nvSpPr>
          <p:cNvPr id="7" name="text-7ox0uu">
            <a:extLst xmlns:a="http://schemas.openxmlformats.org/drawingml/2006/main">
              <a:ext uri="{FF2B5EF4-FFF2-40B4-BE49-F238E27FC236}">
                <a16:creationId xmlns:a16="http://schemas.microsoft.com/office/drawing/2014/main" id="{73176520-8F08-4C31-AA6E-6AB9A930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≈ 3.27 × 10¹⁵⁰ حالت</a:t>
            </a:r>
          </a:p>
        </p:txBody>
      </p:sp>
      <p:sp>
        <p:nvSpPr>
          <p:cNvPr id="8" name="text-vusrql">
            <a:extLst xmlns:a="http://schemas.openxmlformats.org/drawingml/2006/main">
              <a:ext uri="{FF2B5EF4-FFF2-40B4-BE49-F238E27FC236}">
                <a16:creationId xmlns:a16="http://schemas.microsoft.com/office/drawing/2014/main" id="{69F4B3C3-33F2-41DA-8F65-4A6962E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242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ویژگی‌های زائد هزینه و بیش‌برازش را بالا می‌برند</a:t>
            </a:r>
          </a:p>
          <a:p xmlns:a="http://schemas.openxmlformats.org/drawingml/2006/main">
            <a:pPr algn="r">
              <a:defRPr sz="150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هدف: subset کوچک‌تر بدون قربانی‌کردن دقت</a:t>
            </a:r>
          </a:p>
          <a:p xmlns:a="http://schemas.openxmlformats.org/drawingml/2006/main">
            <a:pPr algn="r">
              <a:defRPr sz="150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راه‌حل: جست‌وجوی wrapper با یک فراابتکاری</a:t>
            </a:r>
          </a:p>
        </p:txBody>
      </p:sp>
      <p:sp>
        <p:nvSpPr>
          <p:cNvPr id="9" name="text-myg08u">
            <a:extLst xmlns:a="http://schemas.openxmlformats.org/drawingml/2006/main">
              <a:ext uri="{FF2B5EF4-FFF2-40B4-BE49-F238E27FC236}">
                <a16:creationId xmlns:a16="http://schemas.microsoft.com/office/drawing/2014/main" id="{9351FFEE-EADB-4B09-AF67-129793B2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پروژه EHOA | DOI: 10.1007/s10586-026-05946-9</a:t>
            </a:r>
          </a:p>
        </p:txBody>
      </p:sp>
      <p:sp>
        <p:nvSpPr>
          <p:cNvPr id="10" name="text-gq1b21">
            <a:extLst xmlns:a="http://schemas.openxmlformats.org/drawingml/2006/main">
              <a:ext uri="{FF2B5EF4-FFF2-40B4-BE49-F238E27FC236}">
                <a16:creationId xmlns:a16="http://schemas.microsoft.com/office/drawing/2014/main" id="{D04E8F8A-8C75-4E9D-80FE-1ACDD00D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35029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1A221F5-668C-4055-A90B-EE6AD8E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EHOA سه ضعف HOA را مستقیماً هدف می‌گیرد</a:t>
            </a:r>
          </a:p>
        </p:txBody>
      </p:sp>
      <p:sp>
        <p:nvSpPr>
          <p:cNvPr id="2" name="shape-ecyu0y">
            <a:extLst xmlns:a="http://schemas.openxmlformats.org/drawingml/2006/main">
              <a:ext uri="{FF2B5EF4-FFF2-40B4-BE49-F238E27FC236}">
                <a16:creationId xmlns:a16="http://schemas.microsoft.com/office/drawing/2014/main" id="{41E23EFB-8C76-430E-AA83-D9DDBE69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09537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d9pq9o">
            <a:extLst xmlns:a="http://schemas.openxmlformats.org/drawingml/2006/main">
              <a:ext uri="{FF2B5EF4-FFF2-40B4-BE49-F238E27FC236}">
                <a16:creationId xmlns:a16="http://schemas.microsoft.com/office/drawing/2014/main" id="{04D3C249-9983-447A-8C98-2F4D18EE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95375"/>
            <a:ext cx="767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تنوع شروع، تعادل جست‌وجو و همگرایی پایدارتر</a:t>
            </a:r>
          </a:p>
        </p:txBody>
      </p:sp>
      <p:sp>
        <p:nvSpPr>
          <p:cNvPr id="4" name="shape-d9chfi">
            <a:extLst xmlns:a="http://schemas.openxmlformats.org/drawingml/2006/main">
              <a:ext uri="{FF2B5EF4-FFF2-40B4-BE49-F238E27FC236}">
                <a16:creationId xmlns:a16="http://schemas.microsoft.com/office/drawing/2014/main" id="{5BABAA34-B3B2-4507-A2C6-94891822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text-nthjcg">
            <a:extLst xmlns:a="http://schemas.openxmlformats.org/drawingml/2006/main">
              <a:ext uri="{FF2B5EF4-FFF2-40B4-BE49-F238E27FC236}">
                <a16:creationId xmlns:a16="http://schemas.microsoft.com/office/drawing/2014/main" id="{51E7FE7E-773B-4A76-9CFB-614B1BBE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۰۱</a:t>
            </a:r>
          </a:p>
        </p:txBody>
      </p:sp>
      <p:sp>
        <p:nvSpPr>
          <p:cNvPr id="6" name="text-ifbzwj">
            <a:extLst xmlns:a="http://schemas.openxmlformats.org/drawingml/2006/main">
              <a:ext uri="{FF2B5EF4-FFF2-40B4-BE49-F238E27FC236}">
                <a16:creationId xmlns:a16="http://schemas.microsoft.com/office/drawing/2014/main" id="{646BB1DC-5036-40DB-8CA4-06E9A0AA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مقداردهی آشوبی</a:t>
            </a:r>
          </a:p>
        </p:txBody>
      </p:sp>
      <p:sp>
        <p:nvSpPr>
          <p:cNvPr id="7" name="text-zwwkn4">
            <a:extLst xmlns:a="http://schemas.openxmlformats.org/drawingml/2006/main">
              <a:ext uri="{FF2B5EF4-FFF2-40B4-BE49-F238E27FC236}">
                <a16:creationId xmlns:a16="http://schemas.microsoft.com/office/drawing/2014/main" id="{F35948DB-E614-44C1-B76B-74F48EBF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ده نگاشت؛ Tent به‌عنوان پیش‌فرض</a:t>
            </a:r>
          </a:p>
        </p:txBody>
      </p:sp>
      <p:sp>
        <p:nvSpPr>
          <p:cNvPr id="8" name="shape-gfpz55">
            <a:extLst xmlns:a="http://schemas.openxmlformats.org/drawingml/2006/main">
              <a:ext uri="{FF2B5EF4-FFF2-40B4-BE49-F238E27FC236}">
                <a16:creationId xmlns:a16="http://schemas.microsoft.com/office/drawing/2014/main" id="{B1A9A7BA-D4ED-450E-9F60-E7AE43CB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9" name="text-mwzcqc">
            <a:extLst xmlns:a="http://schemas.openxmlformats.org/drawingml/2006/main">
              <a:ext uri="{FF2B5EF4-FFF2-40B4-BE49-F238E27FC236}">
                <a16:creationId xmlns:a16="http://schemas.microsoft.com/office/drawing/2014/main" id="{E4DC7FD0-0794-40E1-8AA6-4C4ED271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33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۰۲</a:t>
            </a:r>
          </a:p>
        </p:txBody>
      </p:sp>
      <p:sp>
        <p:nvSpPr>
          <p:cNvPr id="10" name="text-0ib7xl">
            <a:extLst xmlns:a="http://schemas.openxmlformats.org/drawingml/2006/main">
              <a:ext uri="{FF2B5EF4-FFF2-40B4-BE49-F238E27FC236}">
                <a16:creationId xmlns:a16="http://schemas.microsoft.com/office/drawing/2014/main" id="{E91EC860-82ED-4BC0-8D44-4735249D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95625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Sweep Factor تطبیقی</a:t>
            </a:r>
          </a:p>
        </p:txBody>
      </p:sp>
      <p:sp>
        <p:nvSpPr>
          <p:cNvPr id="11" name="text-dv3yx0">
            <a:extLst xmlns:a="http://schemas.openxmlformats.org/drawingml/2006/main">
              <a:ext uri="{FF2B5EF4-FFF2-40B4-BE49-F238E27FC236}">
                <a16:creationId xmlns:a16="http://schemas.microsoft.com/office/drawing/2014/main" id="{98AD9961-99A2-4E6E-A23B-A34BB1E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حرکت از اکتشاف به بهره‌برداری</a:t>
            </a:r>
          </a:p>
        </p:txBody>
      </p:sp>
      <p:sp>
        <p:nvSpPr>
          <p:cNvPr id="12" name="shape-cuf4dm">
            <a:extLst xmlns:a="http://schemas.openxmlformats.org/drawingml/2006/main">
              <a:ext uri="{FF2B5EF4-FFF2-40B4-BE49-F238E27FC236}">
                <a16:creationId xmlns:a16="http://schemas.microsoft.com/office/drawing/2014/main" id="{34D25BB7-A1BF-45CE-8F1E-8353CE8B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3" name="text-vb1vfa">
            <a:extLst xmlns:a="http://schemas.openxmlformats.org/drawingml/2006/main">
              <a:ext uri="{FF2B5EF4-FFF2-40B4-BE49-F238E27FC236}">
                <a16:creationId xmlns:a16="http://schemas.microsoft.com/office/drawing/2014/main" id="{210D2DD0-B444-4782-BF8A-7D2CA1E9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۰۳</a:t>
            </a:r>
          </a:p>
        </p:txBody>
      </p:sp>
      <p:sp>
        <p:nvSpPr>
          <p:cNvPr id="14" name="text-j7q1is">
            <a:extLst xmlns:a="http://schemas.openxmlformats.org/drawingml/2006/main">
              <a:ext uri="{FF2B5EF4-FFF2-40B4-BE49-F238E27FC236}">
                <a16:creationId xmlns:a16="http://schemas.microsoft.com/office/drawing/2014/main" id="{3A74AA92-38F6-4783-B85D-EAF86509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سرعت الهام‌گرفته از PSO</a:t>
            </a:r>
          </a:p>
        </p:txBody>
      </p:sp>
      <p:sp>
        <p:nvSpPr>
          <p:cNvPr id="15" name="text-2586r6">
            <a:extLst xmlns:a="http://schemas.openxmlformats.org/drawingml/2006/main">
              <a:ext uri="{FF2B5EF4-FFF2-40B4-BE49-F238E27FC236}">
                <a16:creationId xmlns:a16="http://schemas.microsoft.com/office/drawing/2014/main" id="{35796368-3E2F-40BF-A7DA-0FF1CF46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اینرسی + تجربه شخصی + رهبر</a:t>
            </a:r>
          </a:p>
        </p:txBody>
      </p:sp>
      <p:sp>
        <p:nvSpPr>
          <p:cNvPr id="16" name="text-avtvwo">
            <a:extLst xmlns:a="http://schemas.openxmlformats.org/drawingml/2006/main">
              <a:ext uri="{FF2B5EF4-FFF2-40B4-BE49-F238E27FC236}">
                <a16:creationId xmlns:a16="http://schemas.microsoft.com/office/drawing/2014/main" id="{A19A12AB-B9DF-477D-8B52-4CFD2FF2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منبع: بخش ۴ مقاله EHOA (2026)</a:t>
            </a:r>
          </a:p>
        </p:txBody>
      </p:sp>
      <p:sp>
        <p:nvSpPr>
          <p:cNvPr id="17" name="text-izel3u">
            <a:extLst xmlns:a="http://schemas.openxmlformats.org/drawingml/2006/main">
              <a:ext uri="{FF2B5EF4-FFF2-40B4-BE49-F238E27FC236}">
                <a16:creationId xmlns:a16="http://schemas.microsoft.com/office/drawing/2014/main" id="{8673AA06-F2F6-4153-8A23-C06DC588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83017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4CCE3870-26B6-4532-92C6-A6995E68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هر عامل از موقعیت پیوسته به یک subset باینری می‌رسد</a:t>
            </a:r>
          </a:p>
        </p:txBody>
      </p:sp>
      <p:sp>
        <p:nvSpPr>
          <p:cNvPr id="2" name="shape-wpj0n6">
            <a:extLst xmlns:a="http://schemas.openxmlformats.org/drawingml/2006/main">
              <a:ext uri="{FF2B5EF4-FFF2-40B4-BE49-F238E27FC236}">
                <a16:creationId xmlns:a16="http://schemas.microsoft.com/office/drawing/2014/main" id="{0DF811EB-D667-4783-8EF0-42793908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09537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2162175" y="3190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4429125" y="3190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6696075" y="3190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8963025" y="3190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7" name="shape-tbtt6m">
            <a:extLst xmlns:a="http://schemas.openxmlformats.org/drawingml/2006/main">
              <a:ext uri="{FF2B5EF4-FFF2-40B4-BE49-F238E27FC236}">
                <a16:creationId xmlns:a16="http://schemas.microsoft.com/office/drawing/2014/main" id="{076A9AC1-6E71-4ABE-BA80-F876C233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57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text-6d4tci">
            <a:extLst xmlns:a="http://schemas.openxmlformats.org/drawingml/2006/main">
              <a:ext uri="{FF2B5EF4-FFF2-40B4-BE49-F238E27FC236}">
                <a16:creationId xmlns:a16="http://schemas.microsoft.com/office/drawing/2014/main" id="{E5855329-4D05-4653-ACFA-96F6A0BE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34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Chaotic init</a:t>
            </a:r>
          </a:p>
        </p:txBody>
      </p:sp>
      <p:sp>
        <p:nvSpPr>
          <p:cNvPr id="9" name="text-qsp069">
            <a:extLst xmlns:a="http://schemas.openxmlformats.org/drawingml/2006/main">
              <a:ext uri="{FF2B5EF4-FFF2-40B4-BE49-F238E27FC236}">
                <a16:creationId xmlns:a16="http://schemas.microsoft.com/office/drawing/2014/main" id="{623A285B-9AB8-4F7B-9312-57D83A7A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Eq. 6</a:t>
            </a:r>
          </a:p>
        </p:txBody>
      </p:sp>
      <p:sp>
        <p:nvSpPr>
          <p:cNvPr id="10" name="shape-w2n42e">
            <a:extLst xmlns:a="http://schemas.openxmlformats.org/drawingml/2006/main">
              <a:ext uri="{FF2B5EF4-FFF2-40B4-BE49-F238E27FC236}">
                <a16:creationId xmlns:a16="http://schemas.microsoft.com/office/drawing/2014/main" id="{1107C320-2432-43EA-AD8F-FDC1C190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57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text-k7fjh2">
            <a:extLst xmlns:a="http://schemas.openxmlformats.org/drawingml/2006/main">
              <a:ext uri="{FF2B5EF4-FFF2-40B4-BE49-F238E27FC236}">
                <a16:creationId xmlns:a16="http://schemas.microsoft.com/office/drawing/2014/main" id="{3657854B-4F6B-4D3C-9577-03ECA837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14625"/>
            <a:ext cx="134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Velocity update</a:t>
            </a:r>
          </a:p>
        </p:txBody>
      </p:sp>
      <p:sp>
        <p:nvSpPr>
          <p:cNvPr id="12" name="text-993exd">
            <a:extLst xmlns:a="http://schemas.openxmlformats.org/drawingml/2006/main">
              <a:ext uri="{FF2B5EF4-FFF2-40B4-BE49-F238E27FC236}">
                <a16:creationId xmlns:a16="http://schemas.microsoft.com/office/drawing/2014/main" id="{9EB05639-0088-4165-8121-4E9199AD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Eq. 9</a:t>
            </a:r>
          </a:p>
        </p:txBody>
      </p:sp>
      <p:sp>
        <p:nvSpPr>
          <p:cNvPr id="13" name="shape-eb2qu3">
            <a:extLst xmlns:a="http://schemas.openxmlformats.org/drawingml/2006/main">
              <a:ext uri="{FF2B5EF4-FFF2-40B4-BE49-F238E27FC236}">
                <a16:creationId xmlns:a16="http://schemas.microsoft.com/office/drawing/2014/main" id="{C5182908-FA09-4F04-B739-DC69089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76500"/>
            <a:ext cx="157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text-6k6d8g">
            <a:extLst xmlns:a="http://schemas.openxmlformats.org/drawingml/2006/main">
              <a:ext uri="{FF2B5EF4-FFF2-40B4-BE49-F238E27FC236}">
                <a16:creationId xmlns:a16="http://schemas.microsoft.com/office/drawing/2014/main" id="{83A6B53A-C124-4817-B7D8-19837E1F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14625"/>
            <a:ext cx="134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Sigmoid</a:t>
            </a:r>
          </a:p>
        </p:txBody>
      </p:sp>
      <p:sp>
        <p:nvSpPr>
          <p:cNvPr id="15" name="text-a56ter">
            <a:extLst xmlns:a="http://schemas.openxmlformats.org/drawingml/2006/main">
              <a:ext uri="{FF2B5EF4-FFF2-40B4-BE49-F238E27FC236}">
                <a16:creationId xmlns:a16="http://schemas.microsoft.com/office/drawing/2014/main" id="{50E6EAE9-A973-4B80-92D3-DAA08F4C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Eq. 10–11</a:t>
            </a:r>
          </a:p>
        </p:txBody>
      </p:sp>
      <p:sp>
        <p:nvSpPr>
          <p:cNvPr id="16" name="shape-ivzscb">
            <a:extLst xmlns:a="http://schemas.openxmlformats.org/drawingml/2006/main">
              <a:ext uri="{FF2B5EF4-FFF2-40B4-BE49-F238E27FC236}">
                <a16:creationId xmlns:a16="http://schemas.microsoft.com/office/drawing/2014/main" id="{001D115F-B85C-4689-947C-3507B3DD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157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text-ibu7yr">
            <a:extLst xmlns:a="http://schemas.openxmlformats.org/drawingml/2006/main">
              <a:ext uri="{FF2B5EF4-FFF2-40B4-BE49-F238E27FC236}">
                <a16:creationId xmlns:a16="http://schemas.microsoft.com/office/drawing/2014/main" id="{3C9F8CB4-A620-4D9A-9199-1419918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14625"/>
            <a:ext cx="134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5-NN + CV</a:t>
            </a:r>
          </a:p>
        </p:txBody>
      </p:sp>
      <p:sp>
        <p:nvSpPr>
          <p:cNvPr id="18" name="text-nxyjab">
            <a:extLst xmlns:a="http://schemas.openxmlformats.org/drawingml/2006/main">
              <a:ext uri="{FF2B5EF4-FFF2-40B4-BE49-F238E27FC236}">
                <a16:creationId xmlns:a16="http://schemas.microsoft.com/office/drawing/2014/main" id="{97706768-5EF1-4038-8231-FF98C6D0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خطای طبقه‌بندی</a:t>
            </a:r>
          </a:p>
        </p:txBody>
      </p:sp>
      <p:sp>
        <p:nvSpPr>
          <p:cNvPr id="19" name="shape-wr55c5">
            <a:extLst xmlns:a="http://schemas.openxmlformats.org/drawingml/2006/main">
              <a:ext uri="{FF2B5EF4-FFF2-40B4-BE49-F238E27FC236}">
                <a16:creationId xmlns:a16="http://schemas.microsoft.com/office/drawing/2014/main" id="{13E2B1FA-8468-408D-ADA5-348C1067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0"/>
            <a:ext cx="157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text-bllrmy">
            <a:extLst xmlns:a="http://schemas.openxmlformats.org/drawingml/2006/main">
              <a:ext uri="{FF2B5EF4-FFF2-40B4-BE49-F238E27FC236}">
                <a16:creationId xmlns:a16="http://schemas.microsoft.com/office/drawing/2014/main" id="{1984A236-AC4C-44CE-AB0C-8055D5C8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14625"/>
            <a:ext cx="1343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Fitness</a:t>
            </a:r>
          </a:p>
        </p:txBody>
      </p:sp>
      <p:sp>
        <p:nvSpPr>
          <p:cNvPr id="21" name="text-lre4by">
            <a:extLst xmlns:a="http://schemas.openxmlformats.org/drawingml/2006/main">
              <a:ext uri="{FF2B5EF4-FFF2-40B4-BE49-F238E27FC236}">
                <a16:creationId xmlns:a16="http://schemas.microsoft.com/office/drawing/2014/main" id="{11BA2FB5-F897-4E54-832E-7F3BE127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575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Eq. 12</a:t>
            </a:r>
          </a:p>
        </p:txBody>
      </p:sp>
      <p:sp>
        <p:nvSpPr>
          <p:cNvPr id="22" name="text-lweo3p">
            <a:extLst xmlns:a="http://schemas.openxmlformats.org/drawingml/2006/main">
              <a:ext uri="{FF2B5EF4-FFF2-40B4-BE49-F238E27FC236}">
                <a16:creationId xmlns:a16="http://schemas.microsoft.com/office/drawing/2014/main" id="{B81D0A62-1214-4739-B957-DC477648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موقعیت پیوسته و ماسک باینری جدا نگهداری می‌شوند تا محاسبه سرعت سازگار بماند.</a:t>
            </a:r>
          </a:p>
        </p:txBody>
      </p:sp>
      <p:sp>
        <p:nvSpPr>
          <p:cNvPr id="23" name="text-u327ia">
            <a:extLst xmlns:a="http://schemas.openxmlformats.org/drawingml/2006/main">
              <a:ext uri="{FF2B5EF4-FFF2-40B4-BE49-F238E27FC236}">
                <a16:creationId xmlns:a16="http://schemas.microsoft.com/office/drawing/2014/main" id="{233760F5-68E1-48AD-B977-C3F309BD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ردیابی کامل معادلات: docs/ARTICLE_TO_CODE.md</a:t>
            </a:r>
          </a:p>
        </p:txBody>
      </p:sp>
      <p:sp>
        <p:nvSpPr>
          <p:cNvPr id="24" name="text-9jwipc">
            <a:extLst xmlns:a="http://schemas.openxmlformats.org/drawingml/2006/main">
              <a:ext uri="{FF2B5EF4-FFF2-40B4-BE49-F238E27FC236}">
                <a16:creationId xmlns:a16="http://schemas.microsoft.com/office/drawing/2014/main" id="{07C795BF-662E-4315-A60A-3E3440B1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096710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EC13202-E872-4811-A883-CF964B2D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اعتبار نتیجه به جلوگیری از Data Leakage وابسته است</a:t>
            </a:r>
          </a:p>
        </p:txBody>
      </p:sp>
      <p:sp>
        <p:nvSpPr>
          <p:cNvPr id="2" name="shape-9g35xs">
            <a:extLst xmlns:a="http://schemas.openxmlformats.org/drawingml/2006/main">
              <a:ext uri="{FF2B5EF4-FFF2-40B4-BE49-F238E27FC236}">
                <a16:creationId xmlns:a16="http://schemas.microsoft.com/office/drawing/2014/main" id="{4CF81EE6-B283-416C-85FD-4BBD5469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09537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shape-mk2yud">
            <a:extLst xmlns:a="http://schemas.openxmlformats.org/drawingml/2006/main">
              <a:ext uri="{FF2B5EF4-FFF2-40B4-BE49-F238E27FC236}">
                <a16:creationId xmlns:a16="http://schemas.microsoft.com/office/drawing/2014/main" id="{123F83C6-EE4D-463D-A46E-0C0C36F8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5048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4" name="shape-h8o4dd">
            <a:extLst xmlns:a="http://schemas.openxmlformats.org/drawingml/2006/main">
              <a:ext uri="{FF2B5EF4-FFF2-40B4-BE49-F238E27FC236}">
                <a16:creationId xmlns:a16="http://schemas.microsoft.com/office/drawing/2014/main" id="{D371796D-DDBA-49A7-B9ED-07E51672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14500"/>
            <a:ext cx="5048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5" name="text-u7919w">
            <a:extLst xmlns:a="http://schemas.openxmlformats.org/drawingml/2006/main">
              <a:ext uri="{FF2B5EF4-FFF2-40B4-BE49-F238E27FC236}">
                <a16:creationId xmlns:a16="http://schemas.microsoft.com/office/drawing/2014/main" id="{7208347C-9EA2-4E4B-BE5A-FC5360C7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روش نامعتبر</a:t>
            </a:r>
          </a:p>
        </p:txBody>
      </p:sp>
      <p:sp>
        <p:nvSpPr>
          <p:cNvPr id="6" name="text-9pjl4c">
            <a:extLst xmlns:a="http://schemas.openxmlformats.org/drawingml/2006/main">
              <a:ext uri="{FF2B5EF4-FFF2-40B4-BE49-F238E27FC236}">
                <a16:creationId xmlns:a16="http://schemas.microsoft.com/office/drawing/2014/main" id="{66F80DE5-9C99-44DF-A7CD-BEB411D5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Scaling روی کل داده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SMOTE پیش از CV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انتخاب ویژگی با اطلاع از test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Accuracy خوش‌بینانه و غیرقابل دفاع</a:t>
            </a:r>
          </a:p>
        </p:txBody>
      </p:sp>
      <p:sp>
        <p:nvSpPr>
          <p:cNvPr id="7" name="text-ytk2n0">
            <a:extLst xmlns:a="http://schemas.openxmlformats.org/drawingml/2006/main">
              <a:ext uri="{FF2B5EF4-FFF2-40B4-BE49-F238E27FC236}">
                <a16:creationId xmlns:a16="http://schemas.microsoft.com/office/drawing/2014/main" id="{6E958238-62F5-4870-8F05-8282E5EF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6A34A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6A34A"/>
                </a:solidFill>
                <a:latin typeface="Tahoma"/>
                <a:ea typeface="Tahoma"/>
                <a:cs typeface="Tahoma"/>
              </a:rPr>
              <a:t>پروتکل این پروژه</a:t>
            </a:r>
          </a:p>
        </p:txBody>
      </p:sp>
      <p:sp>
        <p:nvSpPr>
          <p:cNvPr id="8" name="text-hh3cq3">
            <a:extLst xmlns:a="http://schemas.openxmlformats.org/drawingml/2006/main">
              <a:ext uri="{FF2B5EF4-FFF2-40B4-BE49-F238E27FC236}">
                <a16:creationId xmlns:a16="http://schemas.microsoft.com/office/drawing/2014/main" id="{6B55FF9F-D681-446A-B341-503AA870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09875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جداسازی test پیش از EHOA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Fit جداگانه در هر fold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SMOTE فقط روی fold-train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ارزیابی نهایی روی hold-out</a:t>
            </a:r>
          </a:p>
        </p:txBody>
      </p:sp>
      <p:sp>
        <p:nvSpPr>
          <p:cNvPr id="9" name="text-a0n0pt">
            <a:extLst xmlns:a="http://schemas.openxmlformats.org/drawingml/2006/main">
              <a:ext uri="{FF2B5EF4-FFF2-40B4-BE49-F238E27FC236}">
                <a16:creationId xmlns:a16="http://schemas.microsoft.com/office/drawing/2014/main" id="{F3DFBE8A-D7DA-417F-AC7C-8D95C572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کنترل خودکار: tests/test_ehoa.py</a:t>
            </a:r>
          </a:p>
        </p:txBody>
      </p:sp>
      <p:sp>
        <p:nvSpPr>
          <p:cNvPr id="10" name="text-plilx1">
            <a:extLst xmlns:a="http://schemas.openxmlformats.org/drawingml/2006/main">
              <a:ext uri="{FF2B5EF4-FFF2-40B4-BE49-F238E27FC236}">
                <a16:creationId xmlns:a16="http://schemas.microsoft.com/office/drawing/2014/main" id="{BF4BB2C7-BE64-4925-B7D2-104F4D80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05881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EA16902-ECA9-4073-8D27-0A1A980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دو پروفایل، دو هدف متفاوت</a:t>
            </a:r>
          </a:p>
        </p:txBody>
      </p:sp>
      <p:sp>
        <p:nvSpPr>
          <p:cNvPr id="2" name="shape-wdc6k4">
            <a:extLst xmlns:a="http://schemas.openxmlformats.org/drawingml/2006/main">
              <a:ext uri="{FF2B5EF4-FFF2-40B4-BE49-F238E27FC236}">
                <a16:creationId xmlns:a16="http://schemas.microsoft.com/office/drawing/2014/main" id="{D76D67BE-C6A9-4596-8B50-0B5E26EB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09537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shape-gm0mxu">
            <a:extLst xmlns:a="http://schemas.openxmlformats.org/drawingml/2006/main">
              <a:ext uri="{FF2B5EF4-FFF2-40B4-BE49-F238E27FC236}">
                <a16:creationId xmlns:a16="http://schemas.microsoft.com/office/drawing/2014/main" id="{38087D0D-951C-4AA4-B3D8-956AEEB2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4476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4" name="shape-f2y6fv">
            <a:extLst xmlns:a="http://schemas.openxmlformats.org/drawingml/2006/main">
              <a:ext uri="{FF2B5EF4-FFF2-40B4-BE49-F238E27FC236}">
                <a16:creationId xmlns:a16="http://schemas.microsoft.com/office/drawing/2014/main" id="{73C434FF-6F3D-4204-BFAB-3188FF1B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476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text-70h2a7">
            <a:extLst xmlns:a="http://schemas.openxmlformats.org/drawingml/2006/main">
              <a:ext uri="{FF2B5EF4-FFF2-40B4-BE49-F238E27FC236}">
                <a16:creationId xmlns:a16="http://schemas.microsoft.com/office/drawing/2014/main" id="{183F5A43-AD50-457B-9473-3CBA9E18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Quick</a:t>
            </a:r>
          </a:p>
        </p:txBody>
      </p:sp>
      <p:sp>
        <p:nvSpPr>
          <p:cNvPr id="6" name="text-mmm2jd">
            <a:extLst xmlns:a="http://schemas.openxmlformats.org/drawingml/2006/main">
              <a:ext uri="{FF2B5EF4-FFF2-40B4-BE49-F238E27FC236}">
                <a16:creationId xmlns:a16="http://schemas.microsoft.com/office/drawing/2014/main" id="{D5F6B903-B344-40C5-B71A-AB29D464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دموی زنده و کنترل کد</a:t>
            </a:r>
          </a:p>
        </p:txBody>
      </p:sp>
      <p:sp>
        <p:nvSpPr>
          <p:cNvPr id="7" name="text-lvv8gf">
            <a:extLst xmlns:a="http://schemas.openxmlformats.org/drawingml/2006/main">
              <a:ext uri="{FF2B5EF4-FFF2-40B4-BE49-F238E27FC236}">
                <a16:creationId xmlns:a16="http://schemas.microsoft.com/office/drawing/2014/main" id="{FF872C7E-AEC2-44A0-82AD-F0D4CC9B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۸ عامل × ۸ iteration</a:t>
            </a:r>
          </a:p>
          <a:p xmlns:a="http://schemas.openxmlformats.org/drawingml/2006/main">
            <a:pPr algn="r">
              <a:defRPr sz="1575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۵-fold CV</a:t>
            </a:r>
          </a:p>
          <a:p xmlns:a="http://schemas.openxmlformats.org/drawingml/2006/main">
            <a:pPr algn="r">
              <a:defRPr sz="1575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۱ اجرای مستقل</a:t>
            </a:r>
          </a:p>
          <a:p xmlns:a="http://schemas.openxmlformats.org/drawingml/2006/main">
            <a:pPr algn="r">
              <a:defRPr sz="1575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زمان اجرا ≈ چند ثانیه</a:t>
            </a:r>
          </a:p>
        </p:txBody>
      </p:sp>
      <p:sp>
        <p:nvSpPr>
          <p:cNvPr id="8" name="text-hzj867">
            <a:extLst xmlns:a="http://schemas.openxmlformats.org/drawingml/2006/main">
              <a:ext uri="{FF2B5EF4-FFF2-40B4-BE49-F238E27FC236}">
                <a16:creationId xmlns:a16="http://schemas.microsoft.com/office/drawing/2014/main" id="{43E5734F-B8FD-4CB2-B076-A9433C97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Paper</a:t>
            </a:r>
          </a:p>
        </p:txBody>
      </p:sp>
      <p:sp>
        <p:nvSpPr>
          <p:cNvPr id="9" name="text-ot46rb">
            <a:extLst xmlns:a="http://schemas.openxmlformats.org/drawingml/2006/main">
              <a:ext uri="{FF2B5EF4-FFF2-40B4-BE49-F238E27FC236}">
                <a16:creationId xmlns:a16="http://schemas.microsoft.com/office/drawing/2014/main" id="{B7C0878D-19DB-487A-930A-83D76BB5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بودجه محاسباتی مقاله</a:t>
            </a:r>
          </a:p>
        </p:txBody>
      </p:sp>
      <p:sp>
        <p:nvSpPr>
          <p:cNvPr id="10" name="text-igwa5p">
            <a:extLst xmlns:a="http://schemas.openxmlformats.org/drawingml/2006/main">
              <a:ext uri="{FF2B5EF4-FFF2-40B4-BE49-F238E27FC236}">
                <a16:creationId xmlns:a16="http://schemas.microsoft.com/office/drawing/2014/main" id="{BFA274A7-9FC9-4456-A2F7-71F57FC7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۳۰ عامل × ۵۰ iteration</a:t>
            </a:r>
          </a:p>
          <a:p xmlns:a="http://schemas.openxmlformats.org/drawingml/2006/main">
            <a:pPr algn="r">
              <a:defRPr sz="1575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۱۰-fold CV</a:t>
            </a:r>
          </a:p>
          <a:p xmlns:a="http://schemas.openxmlformats.org/drawingml/2006/main">
            <a:pPr algn="r">
              <a:defRPr sz="1575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۲۰ اجرای مستقل</a:t>
            </a:r>
          </a:p>
          <a:p xmlns:a="http://schemas.openxmlformats.org/drawingml/2006/main">
            <a:pPr algn="r">
              <a:defRPr sz="1575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مناسب اجرای نهایی</a:t>
            </a:r>
          </a:p>
        </p:txBody>
      </p:sp>
      <p:sp>
        <p:nvSpPr>
          <p:cNvPr id="11" name="text-9042gd">
            <a:extLst xmlns:a="http://schemas.openxmlformats.org/drawingml/2006/main">
              <a:ext uri="{FF2B5EF4-FFF2-40B4-BE49-F238E27FC236}">
                <a16:creationId xmlns:a16="http://schemas.microsoft.com/office/drawing/2014/main" id="{E2B3BC9D-6532-42C4-9942-D34E8F18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پروفایل اجرا در results/experiment.json ثبت می‌شود</a:t>
            </a:r>
          </a:p>
        </p:txBody>
      </p:sp>
      <p:sp>
        <p:nvSpPr>
          <p:cNvPr id="12" name="text-kbtgs9">
            <a:extLst xmlns:a="http://schemas.openxmlformats.org/drawingml/2006/main">
              <a:ext uri="{FF2B5EF4-FFF2-40B4-BE49-F238E27FC236}">
                <a16:creationId xmlns:a16="http://schemas.microsoft.com/office/drawing/2014/main" id="{ECA16526-4644-4B3F-8A50-2A26699A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126546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267EE26-6271-4C3E-9303-F4ABEEAC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در اجرای Quick حدود نیمی از ویژگی‌ها حذف شدند</a:t>
            </a:r>
          </a:p>
        </p:txBody>
      </p:sp>
      <p:sp>
        <p:nvSpPr>
          <p:cNvPr id="2" name="shape-kvfgb9">
            <a:extLst xmlns:a="http://schemas.openxmlformats.org/drawingml/2006/main">
              <a:ext uri="{FF2B5EF4-FFF2-40B4-BE49-F238E27FC236}">
                <a16:creationId xmlns:a16="http://schemas.microsoft.com/office/drawing/2014/main" id="{553FABB3-FF5F-41C4-919D-0DE5E38E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09537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wn4v0s">
            <a:extLst xmlns:a="http://schemas.openxmlformats.org/drawingml/2006/main">
              <a:ext uri="{FF2B5EF4-FFF2-40B4-BE49-F238E27FC236}">
                <a16:creationId xmlns:a16="http://schemas.microsoft.com/office/drawing/2014/main" id="{D969EDA0-69A9-455D-AD80-4400A104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104900"/>
            <a:ext cx="643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اعداد آزمون از hold-out دست‌نخورده گزارش شده‌اند</a:t>
            </a:r>
          </a:p>
        </p:txBody>
      </p:sp>
      <p:sp>
        <p:nvSpPr>
          <p:cNvPr id="4" name="shape-4lrho3">
            <a:extLst xmlns:a="http://schemas.openxmlformats.org/drawingml/2006/main">
              <a:ext uri="{FF2B5EF4-FFF2-40B4-BE49-F238E27FC236}">
                <a16:creationId xmlns:a16="http://schemas.microsoft.com/office/drawing/2014/main" id="{E0C9EE25-30BB-449A-9DC9-96A3B284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text-6t7205">
            <a:extLst xmlns:a="http://schemas.openxmlformats.org/drawingml/2006/main">
              <a:ext uri="{FF2B5EF4-FFF2-40B4-BE49-F238E27FC236}">
                <a16:creationId xmlns:a16="http://schemas.microsoft.com/office/drawing/2014/main" id="{0870EA00-E1AA-4E20-9175-29A3D99A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50.00%</a:t>
            </a:r>
          </a:p>
        </p:txBody>
      </p:sp>
      <p:sp>
        <p:nvSpPr>
          <p:cNvPr id="6" name="text-0c7ogt">
            <a:extLst xmlns:a="http://schemas.openxmlformats.org/drawingml/2006/main">
              <a:ext uri="{FF2B5EF4-FFF2-40B4-BE49-F238E27FC236}">
                <a16:creationId xmlns:a16="http://schemas.microsoft.com/office/drawing/2014/main" id="{5CD0DEFB-6AC4-43D2-961A-F212BA1B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62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کاهش ویژگی</a:t>
            </a:r>
          </a:p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Breast Cancer</a:t>
            </a:r>
          </a:p>
        </p:txBody>
      </p:sp>
      <p:sp>
        <p:nvSpPr>
          <p:cNvPr id="7" name="shape-egspqb">
            <a:extLst xmlns:a="http://schemas.openxmlformats.org/drawingml/2006/main">
              <a:ext uri="{FF2B5EF4-FFF2-40B4-BE49-F238E27FC236}">
                <a16:creationId xmlns:a16="http://schemas.microsoft.com/office/drawing/2014/main" id="{BB366298-BAF3-44D8-B007-F15F8897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text-ppalak">
            <a:extLst xmlns:a="http://schemas.openxmlformats.org/drawingml/2006/main">
              <a:ext uri="{FF2B5EF4-FFF2-40B4-BE49-F238E27FC236}">
                <a16:creationId xmlns:a16="http://schemas.microsoft.com/office/drawing/2014/main" id="{7F4251A5-EBCE-4353-ACEF-5B8077D7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717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92.11%</a:t>
            </a:r>
          </a:p>
        </p:txBody>
      </p:sp>
      <p:sp>
        <p:nvSpPr>
          <p:cNvPr id="9" name="text-pc1r1n">
            <a:extLst xmlns:a="http://schemas.openxmlformats.org/drawingml/2006/main">
              <a:ext uri="{FF2B5EF4-FFF2-40B4-BE49-F238E27FC236}">
                <a16:creationId xmlns:a16="http://schemas.microsoft.com/office/drawing/2014/main" id="{7A4760D9-7191-4DC3-8318-21C6A5F1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62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KNN Test Accuracy</a:t>
            </a:r>
          </a:p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Breast Cancer</a:t>
            </a:r>
          </a:p>
        </p:txBody>
      </p:sp>
      <p:sp>
        <p:nvSpPr>
          <p:cNvPr id="10" name="shape-nkqey3">
            <a:extLst xmlns:a="http://schemas.openxmlformats.org/drawingml/2006/main">
              <a:ext uri="{FF2B5EF4-FFF2-40B4-BE49-F238E27FC236}">
                <a16:creationId xmlns:a16="http://schemas.microsoft.com/office/drawing/2014/main" id="{DBA610F8-F394-4654-A7F7-0B756A30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1" name="text-2jlca9">
            <a:extLst xmlns:a="http://schemas.openxmlformats.org/drawingml/2006/main">
              <a:ext uri="{FF2B5EF4-FFF2-40B4-BE49-F238E27FC236}">
                <a16:creationId xmlns:a16="http://schemas.microsoft.com/office/drawing/2014/main" id="{52B518F4-9801-4735-AC63-115FBE95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97.22%</a:t>
            </a:r>
          </a:p>
        </p:txBody>
      </p:sp>
      <p:sp>
        <p:nvSpPr>
          <p:cNvPr id="12" name="text-s4eg58">
            <a:extLst xmlns:a="http://schemas.openxmlformats.org/drawingml/2006/main">
              <a:ext uri="{FF2B5EF4-FFF2-40B4-BE49-F238E27FC236}">
                <a16:creationId xmlns:a16="http://schemas.microsoft.com/office/drawing/2014/main" id="{7705AD6A-D722-4E88-96E3-78B5AD7C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62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KNN Test Accuracy</a:t>
            </a:r>
          </a:p>
          <a:p xmlns:a="http://schemas.openxmlformats.org/drawingml/2006/main">
            <a:pPr algn="ctr"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Wine</a:t>
            </a:r>
          </a:p>
        </p:txBody>
      </p:sp>
      <p:sp>
        <p:nvSpPr>
          <p:cNvPr id="13" name="text-dzt5kq">
            <a:extLst xmlns:a="http://schemas.openxmlformats.org/drawingml/2006/main">
              <a:ext uri="{FF2B5EF4-FFF2-40B4-BE49-F238E27FC236}">
                <a16:creationId xmlns:a16="http://schemas.microsoft.com/office/drawing/2014/main" id="{5CD02DAB-5547-43BD-AA04-48F29581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Wine: ۶ از ۱۳ ویژگی  |  Breast Cancer: ۱۵ از ۳۰ ویژگی</a:t>
            </a:r>
          </a:p>
        </p:txBody>
      </p:sp>
      <p:sp>
        <p:nvSpPr>
          <p:cNvPr id="14" name="text-7b3a33">
            <a:extLst xmlns:a="http://schemas.openxmlformats.org/drawingml/2006/main">
              <a:ext uri="{FF2B5EF4-FFF2-40B4-BE49-F238E27FC236}">
                <a16:creationId xmlns:a16="http://schemas.microsoft.com/office/drawing/2014/main" id="{2202D48B-7ADC-4A83-B715-D01FE401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منبع اعداد: results/summary.csv | seed=42 | profile=quick</a:t>
            </a:r>
          </a:p>
        </p:txBody>
      </p:sp>
      <p:sp>
        <p:nvSpPr>
          <p:cNvPr id="15" name="text-68z3ck">
            <a:extLst xmlns:a="http://schemas.openxmlformats.org/drawingml/2006/main">
              <a:ext uri="{FF2B5EF4-FFF2-40B4-BE49-F238E27FC236}">
                <a16:creationId xmlns:a16="http://schemas.microsoft.com/office/drawing/2014/main" id="{367BB7D8-3B8E-4FA5-85BC-9A35B780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965878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ADB4A68-1FC4-4060-8BB4-BE6B6FA4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کاهش بُعد همیشه به معنی افت عملکرد نیست</a:t>
            </a:r>
          </a:p>
        </p:txBody>
      </p:sp>
      <p:sp>
        <p:nvSpPr>
          <p:cNvPr id="2" name="shape-58he3a">
            <a:extLst xmlns:a="http://schemas.openxmlformats.org/drawingml/2006/main">
              <a:ext uri="{FF2B5EF4-FFF2-40B4-BE49-F238E27FC236}">
                <a16:creationId xmlns:a16="http://schemas.microsoft.com/office/drawing/2014/main" id="{ED0DAC6B-39F2-4E4E-8E2A-6F6D092C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09537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39c1134054ff3"/>
          <a:stretch xmlns:a="http://schemas.openxmlformats.org/drawingml/2006/main"/>
        </p:blipFill>
        <p:spPr>
          <a:xfrm xmlns:a="http://schemas.openxmlformats.org/drawingml/2006/main">
            <a:off x="400050" y="1622218"/>
            <a:ext cx="7524750" cy="4089814"/>
          </a:xfrm>
          <a:prstGeom xmlns:a="http://schemas.openxmlformats.org/drawingml/2006/main" prst="rect">
            <a:avLst/>
          </a:prstGeom>
        </p:spPr>
      </p:pic>
      <p:sp>
        <p:nvSpPr>
          <p:cNvPr id="4" name="shape-0428p3">
            <a:extLst xmlns:a="http://schemas.openxmlformats.org/drawingml/2006/main">
              <a:ext uri="{FF2B5EF4-FFF2-40B4-BE49-F238E27FC236}">
                <a16:creationId xmlns:a16="http://schemas.microsoft.com/office/drawing/2014/main" id="{E7131575-8038-4317-B016-A7C80E13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5" name="text-hg8jdr">
            <a:extLst xmlns:a="http://schemas.openxmlformats.org/drawingml/2006/main">
              <a:ext uri="{FF2B5EF4-FFF2-40B4-BE49-F238E27FC236}">
                <a16:creationId xmlns:a16="http://schemas.microsoft.com/office/drawing/2014/main" id="{ECC31C31-EB36-4496-9CDC-52E282B2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KNN</a:t>
            </a:r>
          </a:p>
        </p:txBody>
      </p:sp>
      <p:sp>
        <p:nvSpPr>
          <p:cNvPr id="6" name="text-uj3mbd">
            <a:extLst xmlns:a="http://schemas.openxmlformats.org/drawingml/2006/main">
              <a:ext uri="{FF2B5EF4-FFF2-40B4-BE49-F238E27FC236}">
                <a16:creationId xmlns:a16="http://schemas.microsoft.com/office/drawing/2014/main" id="{E00968E6-2CF2-4E5B-9A09-DDD87EB6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دقت یکسان با نصف ویژگی‌ها</a:t>
            </a:r>
          </a:p>
        </p:txBody>
      </p:sp>
      <p:sp>
        <p:nvSpPr>
          <p:cNvPr id="7" name="shape-ooe3e8">
            <a:extLst xmlns:a="http://schemas.openxmlformats.org/drawingml/2006/main">
              <a:ext uri="{FF2B5EF4-FFF2-40B4-BE49-F238E27FC236}">
                <a16:creationId xmlns:a16="http://schemas.microsoft.com/office/drawing/2014/main" id="{C2618389-113F-4425-81CA-32ECD2A9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8" name="text-km3pxk">
            <a:extLst xmlns:a="http://schemas.openxmlformats.org/drawingml/2006/main">
              <a:ext uri="{FF2B5EF4-FFF2-40B4-BE49-F238E27FC236}">
                <a16:creationId xmlns:a16="http://schemas.microsoft.com/office/drawing/2014/main" id="{A6E2492A-F922-4D8E-B070-9EC2B4E7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Random Forest</a:t>
            </a:r>
          </a:p>
        </p:txBody>
      </p:sp>
      <p:sp>
        <p:nvSpPr>
          <p:cNvPr id="9" name="text-y6nx24">
            <a:extLst xmlns:a="http://schemas.openxmlformats.org/drawingml/2006/main">
              <a:ext uri="{FF2B5EF4-FFF2-40B4-BE49-F238E27FC236}">
                <a16:creationId xmlns:a16="http://schemas.microsoft.com/office/drawing/2014/main" id="{73ED7A9B-6840-4A54-B781-648FCA3D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BA از 95.34% به 96.03% رسید</a:t>
            </a:r>
          </a:p>
        </p:txBody>
      </p:sp>
      <p:sp>
        <p:nvSpPr>
          <p:cNvPr id="10" name="text-konpof">
            <a:extLst xmlns:a="http://schemas.openxmlformats.org/drawingml/2006/main">
              <a:ext uri="{FF2B5EF4-FFF2-40B4-BE49-F238E27FC236}">
                <a16:creationId xmlns:a16="http://schemas.microsoft.com/office/drawing/2014/main" id="{12EA3461-3010-4050-81E8-201156D7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Balanced Accuracy روی hold-out | results/breast_cancer/classifier_metrics.csv</a:t>
            </a:r>
          </a:p>
        </p:txBody>
      </p:sp>
      <p:sp>
        <p:nvSpPr>
          <p:cNvPr id="11" name="text-w1ewa3">
            <a:extLst xmlns:a="http://schemas.openxmlformats.org/drawingml/2006/main">
              <a:ext uri="{FF2B5EF4-FFF2-40B4-BE49-F238E27FC236}">
                <a16:creationId xmlns:a16="http://schemas.microsoft.com/office/drawing/2014/main" id="{58EDD5E0-31CF-4C44-82AA-59561772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986872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505F2480-5748-4106-8022-D6EE5A08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همگرایی و توضیح‌پذیری، رفتار مدل را قابل بررسی می‌کنند</a:t>
            </a:r>
          </a:p>
        </p:txBody>
      </p:sp>
      <p:sp>
        <p:nvSpPr>
          <p:cNvPr id="2" name="shape-jfqwb0">
            <a:extLst xmlns:a="http://schemas.openxmlformats.org/drawingml/2006/main">
              <a:ext uri="{FF2B5EF4-FFF2-40B4-BE49-F238E27FC236}">
                <a16:creationId xmlns:a16="http://schemas.microsoft.com/office/drawing/2014/main" id="{75BDBBA0-4C87-4D73-B6DB-ED1E2636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09537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720f2f9a2463b"/>
          <a:stretch xmlns:a="http://schemas.openxmlformats.org/drawingml/2006/main"/>
        </p:blipFill>
        <p:spPr>
          <a:xfrm xmlns:a="http://schemas.openxmlformats.org/drawingml/2006/main">
            <a:off x="381000" y="1633731"/>
            <a:ext cx="6000750" cy="397153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88210220b4234"/>
          <a:stretch xmlns:a="http://schemas.openxmlformats.org/drawingml/2006/main"/>
        </p:blipFill>
        <p:spPr>
          <a:xfrm xmlns:a="http://schemas.openxmlformats.org/drawingml/2006/main">
            <a:off x="6572250" y="2064345"/>
            <a:ext cx="5238750" cy="3015061"/>
          </a:xfrm>
          <a:prstGeom xmlns:a="http://schemas.openxmlformats.org/drawingml/2006/main" prst="rect">
            <a:avLst/>
          </a:prstGeom>
        </p:spPr>
      </p:pic>
      <p:sp>
        <p:nvSpPr>
          <p:cNvPr id="5" name="text-44zmwz">
            <a:extLst xmlns:a="http://schemas.openxmlformats.org/drawingml/2006/main">
              <a:ext uri="{FF2B5EF4-FFF2-40B4-BE49-F238E27FC236}">
                <a16:creationId xmlns:a16="http://schemas.microsoft.com/office/drawing/2014/main" id="{F769C14E-BF78-4E77-8A0D-9B064F43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Fitness نزولی و تنوع جمعیت ثبت می‌شود</a:t>
            </a:r>
          </a:p>
        </p:txBody>
      </p:sp>
      <p:sp>
        <p:nvSpPr>
          <p:cNvPr id="6" name="text-e815fv">
            <a:extLst xmlns:a="http://schemas.openxmlformats.org/drawingml/2006/main">
              <a:ext uri="{FF2B5EF4-FFF2-40B4-BE49-F238E27FC236}">
                <a16:creationId xmlns:a16="http://schemas.microsoft.com/office/drawing/2014/main" id="{B766DA82-2AC4-4A66-934B-073E91DB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102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Importance واقعی؛ SHAP نیز اختیاری است</a:t>
            </a:r>
          </a:p>
        </p:txBody>
      </p:sp>
      <p:sp>
        <p:nvSpPr>
          <p:cNvPr id="7" name="text-2m69qn">
            <a:extLst xmlns:a="http://schemas.openxmlformats.org/drawingml/2006/main">
              <a:ext uri="{FF2B5EF4-FFF2-40B4-BE49-F238E27FC236}">
                <a16:creationId xmlns:a16="http://schemas.microsoft.com/office/drawing/2014/main" id="{9BCEF8A3-9B99-4B66-A65A-5ACD6FE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خروجی‌های تولیدشده توسط main.py</a:t>
            </a:r>
          </a:p>
        </p:txBody>
      </p:sp>
      <p:sp>
        <p:nvSpPr>
          <p:cNvPr id="8" name="text-n03ct9">
            <a:extLst xmlns:a="http://schemas.openxmlformats.org/drawingml/2006/main">
              <a:ext uri="{FF2B5EF4-FFF2-40B4-BE49-F238E27FC236}">
                <a16:creationId xmlns:a16="http://schemas.microsoft.com/office/drawing/2014/main" id="{228833ED-CC28-48B3-A91B-AEB4036E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180836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E3227292-5410-4336-863F-B2EC72C1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نتیجه قابل دفاع است؛ ادعای پروژه نیز دقیقاً محدود شده</a:t>
            </a:r>
          </a:p>
        </p:txBody>
      </p:sp>
      <p:sp>
        <p:nvSpPr>
          <p:cNvPr id="2" name="shape-aohz0o">
            <a:extLst xmlns:a="http://schemas.openxmlformats.org/drawingml/2006/main">
              <a:ext uri="{FF2B5EF4-FFF2-40B4-BE49-F238E27FC236}">
                <a16:creationId xmlns:a16="http://schemas.microsoft.com/office/drawing/2014/main" id="{7C3A034E-621B-49B0-8642-AFBA62F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09537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text-ygbtda">
            <a:extLst xmlns:a="http://schemas.openxmlformats.org/drawingml/2006/main">
              <a:ext uri="{FF2B5EF4-FFF2-40B4-BE49-F238E27FC236}">
                <a16:creationId xmlns:a16="http://schemas.microsoft.com/office/drawing/2014/main" id="{C424D051-16D9-4425-AB1F-6683C893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6A34A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6A34A"/>
                </a:solidFill>
                <a:latin typeface="Tahoma"/>
                <a:ea typeface="Tahoma"/>
                <a:cs typeface="Tahoma"/>
              </a:rPr>
              <a:t>دستاورد</a:t>
            </a:r>
          </a:p>
        </p:txBody>
      </p:sp>
      <p:sp>
        <p:nvSpPr>
          <p:cNvPr id="4" name="text-p7hcpb">
            <a:extLst xmlns:a="http://schemas.openxmlformats.org/drawingml/2006/main">
              <a:ext uri="{FF2B5EF4-FFF2-40B4-BE49-F238E27FC236}">
                <a16:creationId xmlns:a16="http://schemas.microsoft.com/office/drawing/2014/main" id="{E4AD2608-E0CB-4891-814B-E786BD43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پیاده‌سازی اجزای اصلی EHOA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پروتکل ارزیابی بدون leakage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حذف حدود نیمی از ویژگی‌های دمو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تست و artifactهای بازتولیدپذیر</a:t>
            </a:r>
          </a:p>
        </p:txBody>
      </p:sp>
      <p:sp>
        <p:nvSpPr>
          <p:cNvPr id="5" name="text-nyityi">
            <a:extLst xmlns:a="http://schemas.openxmlformats.org/drawingml/2006/main">
              <a:ext uri="{FF2B5EF4-FFF2-40B4-BE49-F238E27FC236}">
                <a16:creationId xmlns:a16="http://schemas.microsoft.com/office/drawing/2014/main" id="{AA29315C-4194-4C24-96B8-B24F0B27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محدودیت</a:t>
            </a:r>
          </a:p>
        </p:txBody>
      </p:sp>
      <p:sp>
        <p:nvSpPr>
          <p:cNvPr id="6" name="text-w06qs3">
            <a:extLst xmlns:a="http://schemas.openxmlformats.org/drawingml/2006/main">
              <a:ext uri="{FF2B5EF4-FFF2-40B4-BE49-F238E27FC236}">
                <a16:creationId xmlns:a16="http://schemas.microsoft.com/office/drawing/2014/main" id="{045975CB-B37E-4CE1-9FC3-DC9F68D2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Quick فقط یک seed است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۳۳ دیتاست مقاله کامل اجرا نشده‌اند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رقبای GA/PSO/... هنوز افزوده نشده‌اند</a:t>
            </a:r>
          </a:p>
          <a:p xmlns:a="http://schemas.openxmlformats.org/drawingml/2006/main">
            <a:pPr algn="r">
              <a:defRPr sz="1650" b="0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F172A"/>
                </a:solidFill>
                <a:latin typeface="Tahoma"/>
                <a:ea typeface="Tahoma"/>
                <a:cs typeface="Tahoma"/>
              </a:rPr>
              <a:t>• برای نتیجه آماری، profile=paper لازم است</a:t>
            </a:r>
          </a:p>
        </p:txBody>
      </p:sp>
      <p:sp>
        <p:nvSpPr>
          <p:cNvPr id="7" name="shape-iocbqp">
            <a:extLst xmlns:a="http://schemas.openxmlformats.org/drawingml/2006/main">
              <a:ext uri="{FF2B5EF4-FFF2-40B4-BE49-F238E27FC236}">
                <a16:creationId xmlns:a16="http://schemas.microsoft.com/office/drawing/2014/main" id="{89128D69-C115-46CF-BB79-491DF9BF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05375"/>
            <a:ext cx="98107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text-4nuj7b">
            <a:extLst xmlns:a="http://schemas.openxmlformats.org/drawingml/2006/main">
              <a:ext uri="{FF2B5EF4-FFF2-40B4-BE49-F238E27FC236}">
                <a16:creationId xmlns:a16="http://schemas.microsoft.com/office/drawing/2014/main" id="{E2013442-9B5D-4ABC-A5B4-025BF2BA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482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ادعای نهایی: پیاده‌سازی صحیح و چارچوب آزمایش معتبر — نه بازتولید کامل مقاله</a:t>
            </a:r>
          </a:p>
        </p:txBody>
      </p:sp>
      <p:sp>
        <p:nvSpPr>
          <p:cNvPr id="9" name="text-qh4u8r">
            <a:extLst xmlns:a="http://schemas.openxmlformats.org/drawingml/2006/main">
              <a:ext uri="{FF2B5EF4-FFF2-40B4-BE49-F238E27FC236}">
                <a16:creationId xmlns:a16="http://schemas.microsoft.com/office/drawing/2014/main" id="{1DADA9A9-CBBD-4906-8025-D4996854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پروژه EHOA | DOI: 10.1007/s10586-026-05946-9</a:t>
            </a:r>
          </a:p>
        </p:txBody>
      </p:sp>
      <p:sp>
        <p:nvSpPr>
          <p:cNvPr id="10" name="text-zk0jid">
            <a:extLst xmlns:a="http://schemas.openxmlformats.org/drawingml/2006/main">
              <a:ext uri="{FF2B5EF4-FFF2-40B4-BE49-F238E27FC236}">
                <a16:creationId xmlns:a16="http://schemas.microsoft.com/office/drawing/2014/main" id="{2B683F13-9197-492D-B5C1-1B625DA0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7385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hape-o4tiz6">
            <a:extLst xmlns:a="http://schemas.openxmlformats.org/drawingml/2006/main">
              <a:ext uri="{FF2B5EF4-FFF2-40B4-BE49-F238E27FC236}">
                <a16:creationId xmlns:a16="http://schemas.microsoft.com/office/drawing/2014/main" id="{593FDE31-98D6-4726-A87C-10388B02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ext-ll0mb2">
            <a:extLst xmlns:a="http://schemas.openxmlformats.org/drawingml/2006/main">
              <a:ext uri="{FF2B5EF4-FFF2-40B4-BE49-F238E27FC236}">
                <a16:creationId xmlns:a16="http://schemas.microsoft.com/office/drawing/2014/main" id="{1E9C3087-28A8-4764-B42E-514270AB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3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جمع‌بندی</a:t>
            </a:r>
          </a:p>
        </p:txBody>
      </p:sp>
      <p:sp>
        <p:nvSpPr>
          <p:cNvPr id="3" name="text-92nmrt">
            <a:extLst xmlns:a="http://schemas.openxmlformats.org/drawingml/2006/main">
              <a:ext uri="{FF2B5EF4-FFF2-40B4-BE49-F238E27FC236}">
                <a16:creationId xmlns:a16="http://schemas.microsoft.com/office/drawing/2014/main" id="{2E023804-E85C-40B9-841A-5D034F0E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نصف ویژگی‌ها؛</a:t>
            </a:r>
          </a:p>
          <a:p xmlns:a="http://schemas.openxmlformats.org/drawingml/2006/main">
            <a:pPr algn="r">
              <a:defRPr sz="405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اطلاعات پیش‌بینی حفظ شد</a:t>
            </a:r>
          </a:p>
        </p:txBody>
      </p:sp>
      <p:sp>
        <p:nvSpPr>
          <p:cNvPr id="4" name="text-azwdey">
            <a:extLst xmlns:a="http://schemas.openxmlformats.org/drawingml/2006/main">
              <a:ext uri="{FF2B5EF4-FFF2-40B4-BE49-F238E27FC236}">
                <a16:creationId xmlns:a16="http://schemas.microsoft.com/office/drawing/2014/main" id="{2EEC5A53-F75B-4248-9110-425E933D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کد، گزارش، تست و نتایج: github.com/Amirgh23/ehoa-feature-selection</a:t>
            </a:r>
          </a:p>
        </p:txBody>
      </p:sp>
      <p:sp>
        <p:nvSpPr>
          <p:cNvPr id="5" name="text-1e7fld">
            <a:extLst xmlns:a="http://schemas.openxmlformats.org/drawingml/2006/main">
              <a:ext uri="{FF2B5EF4-FFF2-40B4-BE49-F238E27FC236}">
                <a16:creationId xmlns:a16="http://schemas.microsoft.com/office/drawing/2014/main" id="{D4F84C53-82F1-46BD-9A5F-A760FDFF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482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475569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475569"/>
                </a:solidFill>
                <a:latin typeface="Tahoma"/>
                <a:ea typeface="Tahoma"/>
                <a:cs typeface="Tahoma"/>
              </a:rPr>
              <a:t>مقاله مرجع: 10.1007/s10586-026-05946-9</a:t>
            </a:r>
          </a:p>
        </p:txBody>
      </p:sp>
      <p:sp>
        <p:nvSpPr>
          <p:cNvPr id="6" name="text-ybzdet">
            <a:extLst xmlns:a="http://schemas.openxmlformats.org/drawingml/2006/main">
              <a:ext uri="{FF2B5EF4-FFF2-40B4-BE49-F238E27FC236}">
                <a16:creationId xmlns:a16="http://schemas.microsoft.com/office/drawing/2014/main" id="{12FCED00-FDF5-4807-9D64-2394BC18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پرسش و پاسخ</a:t>
            </a:r>
          </a:p>
        </p:txBody>
      </p:sp>
    </p:spTree>
    <p:extLst>
      <p:ext uri="{BB962C8B-B14F-4D97-AF65-F5344CB8AC3E}">
        <p14:creationId xmlns:p14="http://schemas.microsoft.com/office/powerpoint/2010/main" val="1429376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2026-07-21T20:24:29.6600000Z</dcterms:created>
  <dcterms:modified xsi:type="dcterms:W3CDTF">2026-07-21T20:24:29.6600000Z</dcterms:modified>
</coreProperties>
</file>